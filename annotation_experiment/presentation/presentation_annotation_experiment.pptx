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122B251-EB02-70B4-4EE0-A1F5C989EB28}">
          <p14:sldIdLst>
            <p14:sldId id="256"/>
          </p14:sldIdLst>
        </p14:section>
        <p14:section name="Our annotation" id="{0CFE96F0-AF0D-FBCA-E609-AA9426216DA9}">
          <p14:sldIdLst>
            <p14:sldId id="257"/>
            <p14:sldId id="258"/>
            <p14:sldId id="259"/>
          </p14:sldIdLst>
        </p14:section>
        <p14:section name="Comparison with the original" id="{DB6B8744-1BE1-6E0D-0386-7EA877283B9E}">
          <p14:sldIdLst>
            <p14:sldId id="260"/>
            <p14:sldId id="261"/>
          </p14:sldIdLst>
        </p14:section>
        <p14:section name="Discussion" id="{F82E5398-E430-D305-6C55-DBABCC55F541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569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3874" y="1613916"/>
            <a:ext cx="4255618" cy="187269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3874" y="3596335"/>
            <a:ext cx="4255618" cy="6949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742950"/>
            <a:ext cx="79248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09600" y="533400"/>
            <a:ext cx="7924800" cy="161925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09600" y="742950"/>
            <a:ext cx="79248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ALT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09600" y="533400"/>
            <a:ext cx="7924800" cy="161925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09600" y="742950"/>
            <a:ext cx="79248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3874" y="1613916"/>
            <a:ext cx="4255618" cy="1872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data analysis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3874" y="3596335"/>
            <a:ext cx="425561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742950"/>
            <a:ext cx="792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Annotation Workflow Overview</a:t>
            </a:r>
            <a:endParaRPr lang="en-US" sz="2300" dirty="0"/>
          </a:p>
        </p:txBody>
      </p:sp>
      <p:pic>
        <p:nvPicPr>
          <p:cNvPr id="3" name="Image 0" descr="Bar chart: Total Samples 216, Discussions 28, Expert Decisions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0625"/>
            <a:ext cx="914400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742950"/>
            <a:ext cx="792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Inter-Annotator Agreement: PA vs. Bennett's S</a:t>
            </a:r>
            <a:endParaRPr lang="en-US" sz="2300" dirty="0"/>
          </a:p>
        </p:txBody>
      </p:sp>
      <p:pic>
        <p:nvPicPr>
          <p:cNvPr id="3" name="Image 0" descr="Bar chart: before discussion PA 0.87, Bennett's S 0.74; after discussion PA 0.98, Bennett's S 0.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0625"/>
            <a:ext cx="914400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742950"/>
            <a:ext cx="792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Offensiveness Prevalence by Topic</a:t>
            </a:r>
            <a:endParaRPr lang="en-US" sz="2300" dirty="0"/>
          </a:p>
        </p:txBody>
      </p:sp>
      <p:pic>
        <p:nvPicPr>
          <p:cNvPr id="3" name="Image 0" descr="Bar chart, before / after: BLM 4.5% / 1.3%, Covid-19 11.1% / 9.5%, Elections2020 16.7% / 14.7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0625"/>
            <a:ext cx="914400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09600" y="53340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ORIGINAL ANNOTATION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09600" y="742950"/>
            <a:ext cx="792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 agreement with the original labels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09600" y="1295400"/>
            <a:ext cx="2533650" cy="942975"/>
          </a:xfrm>
          <a:prstGeom prst="roundRect">
            <a:avLst>
              <a:gd name="adj" fmla="val 6788"/>
            </a:avLst>
          </a:prstGeom>
          <a:solidFill>
            <a:srgbClr val="FDFCF9"/>
          </a:solidFill>
          <a:ln w="9525">
            <a:solidFill>
              <a:srgbClr val="E1DE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 txBox="1"/>
          <p:nvPr/>
        </p:nvSpPr>
        <p:spPr>
          <a:xfrm>
            <a:off x="809625" y="1428750"/>
            <a:ext cx="219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91.7%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09625" y="1914525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agreement (198 of 216)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00413" y="1295400"/>
            <a:ext cx="2533650" cy="942975"/>
          </a:xfrm>
          <a:prstGeom prst="roundRect">
            <a:avLst>
              <a:gd name="adj" fmla="val 6788"/>
            </a:avLst>
          </a:prstGeom>
          <a:solidFill>
            <a:srgbClr val="FDFCF9"/>
          </a:solidFill>
          <a:ln w="9525">
            <a:solidFill>
              <a:srgbClr val="E1DE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 txBox="1"/>
          <p:nvPr/>
        </p:nvSpPr>
        <p:spPr>
          <a:xfrm>
            <a:off x="3500438" y="1428750"/>
            <a:ext cx="219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00438" y="1914525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Gwet's AC1 (baseline: 0.89)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95988" y="1295400"/>
            <a:ext cx="2533650" cy="942975"/>
          </a:xfrm>
          <a:prstGeom prst="roundRect">
            <a:avLst>
              <a:gd name="adj" fmla="val 6788"/>
            </a:avLst>
          </a:prstGeom>
          <a:solidFill>
            <a:srgbClr val="FDFCF9"/>
          </a:solidFill>
          <a:ln w="9525">
            <a:solidFill>
              <a:srgbClr val="E1DE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 txBox="1"/>
          <p:nvPr/>
        </p:nvSpPr>
        <p:spPr>
          <a:xfrm>
            <a:off x="6196013" y="1428750"/>
            <a:ext cx="219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2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196013" y="1914525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κ, for reference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9600" y="24384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vs. original (n = 216)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00463" y="24384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topic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686050"/>
          <a:ext cx="2852738" cy="871539"/>
        </p:xfrm>
        <a:graphic>
          <a:graphicData uri="http://schemas.openxmlformats.org/drawingml/2006/table">
            <a:tbl>
              <a:tblPr/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Orig. off.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Orig. not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off.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not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00463" y="2686050"/>
          <a:ext cx="4829176" cy="1162052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Off. 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Off. orig.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/ 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09600" y="3648075"/>
            <a:ext cx="285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only 11 of the 22 tweets the original marks as offensive.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3700463" y="3933825"/>
            <a:ext cx="482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Prevalence: ours 8.3%, original 10.2%. We under-label BLM and over-label Elections.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09600" y="53340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DEVIATE ON BLM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09600" y="742950"/>
            <a:ext cx="792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BLM: we found only 1 of the 6 offensive tweets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276350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tweets we missed (original: offensive)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600" y="1533525"/>
            <a:ext cx="4286250" cy="2571750"/>
          </a:xfrm>
          <a:prstGeom prst="roundRect">
            <a:avLst>
              <a:gd name="adj" fmla="val 2489"/>
            </a:avLst>
          </a:prstGeom>
          <a:solidFill>
            <a:srgbClr val="FDFCF9"/>
          </a:solidFill>
          <a:ln w="9525">
            <a:solidFill>
              <a:srgbClr val="E1DE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 txBox="1"/>
          <p:nvPr/>
        </p:nvSpPr>
        <p:spPr>
          <a:xfrm>
            <a:off x="776288" y="1619250"/>
            <a:ext cx="190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#230 · batch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762375" y="1600200"/>
            <a:ext cx="966788" cy="152400"/>
          </a:xfrm>
          <a:prstGeom prst="roundRect">
            <a:avLst>
              <a:gd name="adj" fmla="val 50000"/>
            </a:avLst>
          </a:prstGeom>
          <a:solidFill>
            <a:srgbClr val="EBE9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not offensive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6288" y="1771650"/>
            <a:ext cx="395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hits just keep coming...what a turd."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6288" y="1971675"/>
            <a:ext cx="3952875" cy="4763"/>
          </a:xfrm>
          <a:prstGeom prst="rect">
            <a:avLst/>
          </a:prstGeom>
          <a:solidFill>
            <a:srgbClr val="E1DE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 txBox="1"/>
          <p:nvPr/>
        </p:nvSpPr>
        <p:spPr>
          <a:xfrm>
            <a:off x="776288" y="2019300"/>
            <a:ext cx="190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#239 · batch 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62375" y="2000250"/>
            <a:ext cx="966788" cy="152400"/>
          </a:xfrm>
          <a:prstGeom prst="roundRect">
            <a:avLst>
              <a:gd name="adj" fmla="val 50000"/>
            </a:avLst>
          </a:prstGeom>
          <a:solidFill>
            <a:srgbClr val="EBE9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not offensive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76288" y="2171700"/>
            <a:ext cx="395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don't give a fuck about George Floyd bro, stop fucking acting like you care."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6288" y="2524125"/>
            <a:ext cx="3952875" cy="4763"/>
          </a:xfrm>
          <a:prstGeom prst="rect">
            <a:avLst/>
          </a:prstGeom>
          <a:solidFill>
            <a:srgbClr val="E1DE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776288" y="2571750"/>
            <a:ext cx="190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#503 · batch 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62375" y="2552700"/>
            <a:ext cx="966788" cy="152400"/>
          </a:xfrm>
          <a:prstGeom prst="roundRect">
            <a:avLst>
              <a:gd name="adj" fmla="val 50000"/>
            </a:avLst>
          </a:prstGeom>
          <a:solidFill>
            <a:srgbClr val="EBE9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not offensive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76288" y="2724150"/>
            <a:ext cx="395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"THAT MAN KNEW EXACTLY WTF HE WAS DOING! […] FUCK YOUR 'THIRD DEGREE'"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6288" y="3076575"/>
            <a:ext cx="3952875" cy="4763"/>
          </a:xfrm>
          <a:prstGeom prst="rect">
            <a:avLst/>
          </a:prstGeom>
          <a:solidFill>
            <a:srgbClr val="E1DE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 txBox="1"/>
          <p:nvPr/>
        </p:nvSpPr>
        <p:spPr>
          <a:xfrm>
            <a:off x="776288" y="3124200"/>
            <a:ext cx="190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#575 · batch 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62375" y="3105150"/>
            <a:ext cx="966788" cy="152400"/>
          </a:xfrm>
          <a:prstGeom prst="roundRect">
            <a:avLst>
              <a:gd name="adj" fmla="val 50000"/>
            </a:avLst>
          </a:prstGeom>
          <a:solidFill>
            <a:srgbClr val="EBE9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not offensive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76288" y="3276600"/>
            <a:ext cx="395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"[…] this MF will get off because of stupidity. Crap, here comes another riot oh I mean protest."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6288" y="3629025"/>
            <a:ext cx="3952875" cy="4763"/>
          </a:xfrm>
          <a:prstGeom prst="rect">
            <a:avLst/>
          </a:prstGeom>
          <a:solidFill>
            <a:srgbClr val="E1DED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 txBox="1"/>
          <p:nvPr/>
        </p:nvSpPr>
        <p:spPr>
          <a:xfrm>
            <a:off x="776288" y="3676650"/>
            <a:ext cx="190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#499 · batch 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57575" y="3657600"/>
            <a:ext cx="1271588" cy="152400"/>
          </a:xfrm>
          <a:prstGeom prst="roundRect">
            <a:avLst>
              <a:gd name="adj" fmla="val 50000"/>
            </a:avLst>
          </a:prstGeom>
          <a:solidFill>
            <a:srgbClr val="FBEFE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4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discussed → not offensive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76288" y="3829050"/>
            <a:ext cx="395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"Look at this! Scum #londonriots #londonprotests"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4450" y="1276350"/>
            <a:ext cx="3409950" cy="838200"/>
          </a:xfrm>
          <a:prstGeom prst="roundRect">
            <a:avLst>
              <a:gd name="adj" fmla="val 7636"/>
            </a:avLst>
          </a:prstGeom>
          <a:solidFill>
            <a:srgbClr val="FDFCF9"/>
          </a:solidFill>
          <a:ln w="9525">
            <a:solidFill>
              <a:srgbClr val="E1DE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 txBox="1"/>
          <p:nvPr/>
        </p:nvSpPr>
        <p:spPr>
          <a:xfrm>
            <a:off x="5281613" y="1371600"/>
            <a:ext cx="1000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281613" y="1724025"/>
            <a:ext cx="9763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in the original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353175" y="1371600"/>
            <a:ext cx="1000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6353175" y="1724025"/>
            <a:ext cx="9763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us (#549)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419975" y="1371600"/>
            <a:ext cx="1000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7419975" y="1724025"/>
            <a:ext cx="9763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– all with vulgar language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24450" y="2238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00675" y="2228850"/>
            <a:ext cx="3133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blind spot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00675" y="2390775"/>
            <a:ext cx="3133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 5 were "not offensive" for both of us, so they were never discussed. With only two annotators, one shared slip is enough – e.g. #575: I overlooked what "MF" means.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4450" y="3086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00675" y="3076575"/>
            <a:ext cx="3133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 ended lenient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00675" y="3238500"/>
            <a:ext cx="313372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BLM discussions ended "not offensive" (Covid-19: 3 of 8, Elections: 6 of 15 ended offensive).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24450" y="36147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00675" y="3605213"/>
            <a:ext cx="3133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codebook leans lenient on BLM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400675" y="3767138"/>
            <a:ext cx="31337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its 5 BLM examples are "not offensive" despite insults ("Y'all mfs … stupid asses"). We never revised them, and "speculative offensiveness" rules out unclear targets ("what a turd").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09600" y="4686300"/>
            <a:ext cx="792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 has the highest agreement with the original (93.6%) but the lowest κ (0.27) 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09600" y="533400"/>
            <a:ext cx="7924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DISCUSSION → CODEBOOK CHANGE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09600" y="742950"/>
            <a:ext cx="792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political critique end?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09600" y="1295400"/>
            <a:ext cx="3905250" cy="1257300"/>
          </a:xfrm>
          <a:prstGeom prst="roundRect">
            <a:avLst>
              <a:gd name="adj" fmla="val 5091"/>
            </a:avLst>
          </a:prstGeom>
          <a:solidFill>
            <a:srgbClr val="FDFCF9"/>
          </a:solidFill>
          <a:ln w="9525">
            <a:solidFill>
              <a:srgbClr val="E1DE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09600" y="1295400"/>
            <a:ext cx="33338" cy="1257300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 txBox="1"/>
          <p:nvPr/>
        </p:nvSpPr>
        <p:spPr>
          <a:xfrm>
            <a:off x="828675" y="1428750"/>
            <a:ext cx="3524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#488 · Elections2020 · batch 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8675" y="1619250"/>
            <a:ext cx="3524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"Corrupt Joe will be impeached immediately if he is elected! America can not have a felon and an American traitor at the helm […] NO PEACEFUL TRANSFER OF POWER EVER HATE BIDEN AT ALL COST!"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2647950"/>
            <a:ext cx="3952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A1: 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"call for violence"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2867025"/>
            <a:ext cx="395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A2: 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</a:t>
            </a:r>
            <a:r>
              <a:rPr lang="en-US" sz="115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offensiveness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"the only possible offensive words are … a felon and an American traitor"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3267075"/>
            <a:ext cx="395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A1: 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the </a:t>
            </a:r>
            <a:r>
              <a:rPr lang="en-US" sz="115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definition: "violent […] language expressed with angry, </a:t>
            </a: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or hurtful words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3667125"/>
            <a:ext cx="395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A1: 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calling out for violence is not allowed. lets move it to expert round"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600" y="4095750"/>
            <a:ext cx="1771650" cy="285750"/>
          </a:xfrm>
          <a:prstGeom prst="roundRect">
            <a:avLst>
              <a:gd name="adj" fmla="val 50000"/>
            </a:avLst>
          </a:prstGeom>
          <a:solidFill>
            <a:srgbClr val="1B243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decision: offensive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43450" y="1295400"/>
            <a:ext cx="3790950" cy="1743075"/>
          </a:xfrm>
          <a:prstGeom prst="roundRect">
            <a:avLst>
              <a:gd name="adj" fmla="val 3672"/>
            </a:avLst>
          </a:prstGeom>
          <a:solidFill>
            <a:srgbClr val="FDFCF9"/>
          </a:solidFill>
          <a:ln w="9525">
            <a:solidFill>
              <a:srgbClr val="E1DE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 txBox="1"/>
          <p:nvPr/>
        </p:nvSpPr>
        <p:spPr>
          <a:xfrm>
            <a:off x="4943475" y="1447800"/>
            <a:ext cx="3429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RULE IN CODEBOOK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43475" y="1638300"/>
            <a:ext cx="342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critique vs. hostile incitement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943475" y="1943100"/>
            <a:ext cx="3429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offensive: 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politicians liars, cheats or corrupt without profanity, e.g. #330 "Your an enabler, a liar and a cheat!!"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943475" y="2524125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Offensive: 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accusations plus incitement to hatred or unrest, e.g. #488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43450" y="3143250"/>
            <a:ext cx="3790950" cy="819150"/>
          </a:xfrm>
          <a:prstGeom prst="roundRect">
            <a:avLst>
              <a:gd name="adj" fmla="val 7814"/>
            </a:avLst>
          </a:prstGeom>
          <a:solidFill>
            <a:srgbClr val="FBEFE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743450" y="3143250"/>
            <a:ext cx="33338" cy="819150"/>
          </a:xfrm>
          <a:prstGeom prst="rect">
            <a:avLst/>
          </a:prstGeom>
          <a:solidFill>
            <a:srgbClr val="C26A1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 txBox="1"/>
          <p:nvPr/>
        </p:nvSpPr>
        <p:spPr>
          <a:xfrm>
            <a:off x="4962525" y="3286125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F4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the original labels #488 as not offensive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62525" y="3495675"/>
            <a:ext cx="3429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sharper rule moved us further from the original annotation on this case.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9600" y="4686300"/>
            <a:ext cx="792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added in new codebook version: rule on threats and wishing death or harm (from discussions on #140, #256 and tweet #506 "Drop dead...")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Bildschirmpräsentation (16:9)</PresentationFormat>
  <Paragraphs>102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annotated data analysis</vt:lpstr>
      <vt:lpstr>Annotation Workflow Overview</vt:lpstr>
      <vt:lpstr>Inter-Annotator Agreement: PA vs. Bennett's S</vt:lpstr>
      <vt:lpstr>Offensiveness Prevalence by Topic</vt:lpstr>
      <vt:lpstr>92% agreement with the original labels</vt:lpstr>
      <vt:lpstr>BLM: we found only 1 of the 6 offensive tweets</vt:lpstr>
      <vt:lpstr>Where does political critique end?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Annotation Experiment – Group 1</dc:title>
  <dc:subject>PptxGenJS Presentation</dc:subject>
  <dc:creator>PptxGenJS</dc:creator>
  <cp:lastModifiedBy>BSEM Group</cp:lastModifiedBy>
  <cp:revision>3</cp:revision>
  <dcterms:created xsi:type="dcterms:W3CDTF">2026-10-14T18:40:27Z</dcterms:created>
  <dcterms:modified xsi:type="dcterms:W3CDTF">2026-10-14T19:35:55Z</dcterms:modified>
</cp:coreProperties>
</file>